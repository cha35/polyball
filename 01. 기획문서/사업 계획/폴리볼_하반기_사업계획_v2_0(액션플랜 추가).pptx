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7801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02920"/>
            <a:ext cx="2743200" cy="37717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788920"/>
            <a:ext cx="502920" cy="82296"/>
          </a:xfrm>
          <a:prstGeom prst="rect">
            <a:avLst/>
          </a:prstGeom>
          <a:solidFill>
            <a:srgbClr val="FF61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1"/>
          <p:cNvSpPr/>
          <p:nvPr/>
        </p:nvSpPr>
        <p:spPr>
          <a:xfrm>
            <a:off x="502920" y="2971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폴리볼(Polyball) 서비스 진단 및 하반기 사업계획(안)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8640" y="3977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 2개월 운영 진단 · 향후 서비스 방향성 및 목표 수립  (~2026년 말 기준)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월렛사업실  |  2026. 06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02920" y="6126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Confidential and proprietary  Any use of this material without specific permission of Hecto is strictly prohibited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6012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보고 목적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640080" y="127101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폴리볼 출시 후 약 2개월 운영 결과를 진단하고, 핵심 리워드 콘텐츠인 프로야구 시즌 종료(2026.9.6) 이후를 대비하여 서비스 방향성과 2026년 말까지의 목표를 수립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178308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핵심 요약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1513"/>
              </p:ext>
            </p:extLst>
          </p:nvPr>
        </p:nvGraphicFramePr>
        <p:xfrm>
          <a:off x="640080" y="2093976"/>
          <a:ext cx="10972800" cy="263347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6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순수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CAC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고효율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유입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주단위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티켓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응모로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높은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리텐션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유저풀</a:t>
                      </a:r>
                      <a:r>
                        <a:rPr lang="ko-KR" alt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확보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.  단,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오가닉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유입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한계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·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미비</a:t>
                      </a:r>
                      <a:endParaRPr lang="en-US" altLang="ko-KR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직관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티켓에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반응하는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유효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모수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자체가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작고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시장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),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응모형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리워드가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오가닉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성장을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저해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),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동기가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리워드에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국한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altLang="ko-KR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야구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외</a:t>
                      </a:r>
                      <a:r>
                        <a:rPr lang="ko-KR" alt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 </a:t>
                      </a:r>
                      <a:r>
                        <a:rPr lang="ko-KR" altLang="en-US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라이트한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이슈로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ko-KR" alt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마켓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대중적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리워드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dirty="0" err="1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다변화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+ </a:t>
                      </a:r>
                      <a:r>
                        <a:rPr lang="ko-KR" alt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누적된 예측 데이터의 가치 부여 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=&gt; </a:t>
                      </a:r>
                      <a:r>
                        <a:rPr lang="ko-KR" alt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참여형 플랫폼 피벗 및 광고 </a:t>
                      </a:r>
                      <a:r>
                        <a:rPr lang="en-US" altLang="ko-KR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 </a:t>
                      </a:r>
                      <a:r>
                        <a:rPr lang="ko-KR" alt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정립</a:t>
                      </a:r>
                      <a:endParaRPr lang="en-US" altLang="ko-KR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하반기 KPI 2축 — ① BM 전환 가능한 고빈도 · 체류 인게이지먼트 지표  ② </a:t>
                      </a:r>
                      <a:r>
                        <a:rPr lang="ko-KR" alt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수익화 및 매출</a:t>
                      </a: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지표 — 및 액션 · 마케팅 · 인력 계획 수립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76200" marT="38100" marB="381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서비스 개요 및 운영 현황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89611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핵심 고객 가치 &amp; 가치 구조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0080" y="1207008"/>
            <a:ext cx="10972800" cy="566928"/>
          </a:xfrm>
          <a:prstGeom prst="roundRect">
            <a:avLst>
              <a:gd name="adj" fmla="val 8065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868680" y="120700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“프로야구 승부예측</a:t>
            </a:r>
            <a:r>
              <a:rPr lang="en-US" sz="115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sz="11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 직관(직접 관람) 기회”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예측 참여  ›  주단위 티켓 응모  ›  당첨 시 직관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1480" y="1993392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주요 운영 지표  (출시 후 약 2개월 기준)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331720"/>
            <a:ext cx="3520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640080" y="2331720"/>
            <a:ext cx="64008" cy="1207008"/>
          </a:xfrm>
          <a:prstGeom prst="rect">
            <a:avLst/>
          </a:prstGeom>
          <a:solidFill>
            <a:srgbClr val="8C8C8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96112" y="2441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가입자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96112" y="2715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25,073명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96112" y="3209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8,537 · 앱 16,536 (3/26~6/8)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66260" y="2331720"/>
            <a:ext cx="3520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4366260" y="2331720"/>
            <a:ext cx="64008" cy="120700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4622292" y="2441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실질 DAU (앱+웹예측)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22292" y="2715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</a:t>
            </a:r>
            <a:r>
              <a:rPr 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</a:t>
            </a:r>
            <a:r>
              <a:rPr lang="ko-KR" alt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</a:t>
            </a:r>
            <a:r>
              <a:rPr lang="en-US" altLang="ko-KR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4622292" y="3209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예측완료 73% — 액션하는 실유저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092440" y="2331720"/>
            <a:ext cx="3520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7"/>
          <p:cNvSpPr/>
          <p:nvPr/>
        </p:nvSpPr>
        <p:spPr>
          <a:xfrm>
            <a:off x="8092440" y="2331720"/>
            <a:ext cx="64008" cy="120700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8348472" y="2441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순수 CAC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348472" y="27157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</a:t>
            </a: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444원</a:t>
            </a:r>
            <a:endParaRPr lang="en-US" sz="3000" dirty="0"/>
          </a:p>
        </p:txBody>
      </p:sp>
      <p:sp>
        <p:nvSpPr>
          <p:cNvPr id="23" name="Text 20"/>
          <p:cNvSpPr/>
          <p:nvPr/>
        </p:nvSpPr>
        <p:spPr>
          <a:xfrm>
            <a:off x="8348472" y="3209544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티켓비용 미환산 · 고효율 유입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40080" y="3739896"/>
            <a:ext cx="3520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5" name="Shape 22"/>
          <p:cNvSpPr/>
          <p:nvPr/>
        </p:nvSpPr>
        <p:spPr>
          <a:xfrm>
            <a:off x="640080" y="3739896"/>
            <a:ext cx="64008" cy="120700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3"/>
          <p:cNvSpPr/>
          <p:nvPr/>
        </p:nvSpPr>
        <p:spPr>
          <a:xfrm>
            <a:off x="896112" y="3849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</a:t>
            </a:r>
            <a:r>
              <a:rPr 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재방문</a:t>
            </a:r>
            <a:r>
              <a:rPr lang="en-US" altLang="ko-KR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b="1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</a:t>
            </a:r>
            <a:r>
              <a:rPr lang="en-US" altLang="ko-KR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ko-KR" alt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96112" y="41239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52~76%</a:t>
            </a:r>
            <a:endParaRPr lang="en-US" sz="3000" dirty="0"/>
          </a:p>
        </p:txBody>
      </p:sp>
      <p:sp>
        <p:nvSpPr>
          <p:cNvPr id="28" name="Text 25"/>
          <p:cNvSpPr/>
          <p:nvPr/>
        </p:nvSpPr>
        <p:spPr>
          <a:xfrm>
            <a:off x="896112" y="46177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</a:t>
            </a:r>
            <a:r>
              <a:rPr lang="en-US" altLang="ko-KR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r>
              <a:rPr lang="ko-KR" alt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당첨 결과 발표에 따른 </a:t>
            </a:r>
            <a:r>
              <a:rPr lang="ko-KR" altLang="en-US" sz="950" dirty="0" err="1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</a:t>
            </a:r>
            <a:r>
              <a:rPr lang="ko-KR" alt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구조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366260" y="3739896"/>
            <a:ext cx="3520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27"/>
          <p:cNvSpPr/>
          <p:nvPr/>
        </p:nvSpPr>
        <p:spPr>
          <a:xfrm>
            <a:off x="4366260" y="3739896"/>
            <a:ext cx="64008" cy="1207008"/>
          </a:xfrm>
          <a:prstGeom prst="rect">
            <a:avLst/>
          </a:prstGeom>
          <a:solidFill>
            <a:srgbClr val="80808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4622292" y="3849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일 평균 총 예측 참여 수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622292" y="41239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4622292" y="46177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인당 일평균 약 </a:t>
            </a:r>
            <a:r>
              <a:rPr lang="en-US" altLang="ko-KR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11.7</a:t>
            </a:r>
            <a:r>
              <a:rPr lang="ko-KR" altLang="en-US" sz="950" dirty="0">
                <a:solidFill>
                  <a:srgbClr val="8080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 참여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8092440" y="3739896"/>
            <a:ext cx="35204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2"/>
          <p:cNvSpPr/>
          <p:nvPr/>
        </p:nvSpPr>
        <p:spPr>
          <a:xfrm>
            <a:off x="8092440" y="3739896"/>
            <a:ext cx="64008" cy="1207008"/>
          </a:xfrm>
          <a:prstGeom prst="rect">
            <a:avLst/>
          </a:prstGeom>
          <a:solidFill>
            <a:srgbClr val="1F7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3"/>
          <p:cNvSpPr/>
          <p:nvPr/>
        </p:nvSpPr>
        <p:spPr>
          <a:xfrm>
            <a:off x="8348472" y="384962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광고 매출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348472" y="412394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4,188,672원</a:t>
            </a:r>
            <a:endParaRPr lang="en-US" sz="3000" dirty="0"/>
          </a:p>
        </p:txBody>
      </p:sp>
      <p:sp>
        <p:nvSpPr>
          <p:cNvPr id="38" name="Text 35"/>
          <p:cNvSpPr/>
          <p:nvPr/>
        </p:nvSpPr>
        <p:spPr>
          <a:xfrm>
            <a:off x="8348472" y="46177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광고 </a:t>
            </a:r>
            <a:r>
              <a:rPr lang="en-US" altLang="ko-KR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218</a:t>
            </a:r>
            <a:r>
              <a:rPr lang="ko-KR" alt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원</a:t>
            </a:r>
            <a:r>
              <a:rPr lang="en-US" altLang="ko-KR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950" dirty="0" err="1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직광고</a:t>
            </a:r>
            <a:r>
              <a:rPr lang="ko-KR" alt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200</a:t>
            </a:r>
            <a:r>
              <a:rPr lang="ko-KR" altLang="en-US" sz="950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원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40080" y="5001768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기간 3/26~6/8 누적 · 최근 7일(6/1~6/8) 일평균 예측 2,995명 · 응모 391명 · eCPM 평균 약 11,500원 · 리워드 = KBO (시즌 종료 2026.9.6)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40080" y="5532120"/>
            <a:ext cx="109728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  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지표상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리텐션은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양호하나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오가닉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전환은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리워드가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프로야구에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집중되어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종료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(9/6) 시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동력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공백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우려</a:t>
            </a:r>
            <a:b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  → 본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보고의</a:t>
            </a:r>
            <a:r>
              <a:rPr lang="en-US" altLang="ko-KR" sz="11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출발점</a:t>
            </a:r>
            <a:endParaRPr lang="en-US" sz="115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FA3F399-7F71-070B-7D6E-1F952DDB3182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주요 지표를 무엇으로 볼 것인가</a:t>
            </a:r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78F3CD72-4A25-4198-9341-7D90083A6681}"/>
              </a:ext>
            </a:extLst>
          </p:cNvPr>
          <p:cNvSpPr/>
          <p:nvPr/>
        </p:nvSpPr>
        <p:spPr>
          <a:xfrm>
            <a:off x="4622292" y="40965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</a:t>
            </a:r>
            <a:r>
              <a:rPr 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6.4</a:t>
            </a:r>
            <a:r>
              <a:rPr lang="ko-KR" alt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회</a:t>
            </a:r>
            <a:r>
              <a:rPr lang="en-US" altLang="ko-KR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22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운영 진단 ① 긍정 신호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출시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후 약 2개월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메커니즘의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효율과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리텐션이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검증됨</a:t>
            </a:r>
            <a:endParaRPr lang="en-US" altLang="ko-KR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3949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16916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F7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14400" y="1691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고효율 유입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51560" y="2743200"/>
            <a:ext cx="4617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</a:t>
            </a: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 CAC 444원 — </a:t>
            </a: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채널의 </a:t>
            </a:r>
            <a:r>
              <a:rPr lang="en-US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고효율</a:t>
            </a: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유입 확인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퍼포먼스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CAC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우수</a:t>
            </a:r>
            <a:endParaRPr lang="en-US" altLang="ko-KR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확률형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리워드의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후킹이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유효하게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</a:t>
            </a:r>
            <a:endParaRPr lang="en-US" altLang="ko-KR" sz="1200" dirty="0"/>
          </a:p>
        </p:txBody>
      </p:sp>
      <p:sp>
        <p:nvSpPr>
          <p:cNvPr id="11" name="Shape 8"/>
          <p:cNvSpPr/>
          <p:nvPr/>
        </p:nvSpPr>
        <p:spPr>
          <a:xfrm>
            <a:off x="6492240" y="1417320"/>
            <a:ext cx="53949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5875">
            <a:solidFill>
              <a:srgbClr val="1F7A4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766560" y="16916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1F7A4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766560" y="1691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1945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리텐션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903720" y="274320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단위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구조가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방문을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유도</a:t>
            </a:r>
            <a:endParaRPr lang="en-US" altLang="ko-KR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양호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</a:t>
            </a: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발표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 마감 시 높은 재방문율</a:t>
            </a:r>
            <a:endParaRPr lang="en-US" altLang="ko-KR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당첨 확인과 </a:t>
            </a:r>
            <a:r>
              <a:rPr lang="en-US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</a:t>
            </a:r>
            <a:r>
              <a:rPr lang="ko-KR" alt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주기가 정기 재방문 습관으로 정착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solidFill>
            <a:srgbClr val="EAF3EE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r>
              <a:rPr lang="en-US" sz="1200" b="1" dirty="0">
                <a:solidFill>
                  <a:srgbClr val="1F7A4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메커니즘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 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)의 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후킹·리텐션은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검증됨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지속 가능한 서비스 모델 및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자산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최적화 및 효율 제고 필수</a:t>
            </a:r>
            <a:endParaRPr 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15F866D-A705-F831-70EE-494DF91266ED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긍정 포인트를 무엇으로 볼 것인가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운영 진단 ② 한계 신호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반면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자생력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탈피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)과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측면에서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한계가</a:t>
            </a:r>
            <a:r>
              <a:rPr lang="en-US" altLang="ko-KR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확인됨</a:t>
            </a:r>
            <a:endParaRPr lang="en-US" altLang="ko-KR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3949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Shape 4"/>
          <p:cNvSpPr/>
          <p:nvPr/>
        </p:nvSpPr>
        <p:spPr>
          <a:xfrm>
            <a:off x="91440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1440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 · 비용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7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오가닉</a:t>
            </a:r>
            <a:r>
              <a:rPr lang="en-US" altLang="ko-KR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7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</a:t>
            </a:r>
            <a:r>
              <a:rPr lang="en-US" altLang="ko-KR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7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r>
              <a:rPr lang="en-US" altLang="ko-KR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7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</a:t>
            </a:r>
            <a:r>
              <a:rPr lang="en-US" altLang="ko-KR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7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유지비용</a:t>
            </a:r>
            <a:endParaRPr lang="en-US" altLang="ko-KR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27432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오가닉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비중이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낮아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유입이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마케팅에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</a:t>
            </a:r>
            <a:endParaRPr lang="en-US" altLang="ko-KR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고정비용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활성이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받쳐주지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않으면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인당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상승</a:t>
            </a:r>
            <a:endParaRPr lang="en-US" altLang="ko-KR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오가닉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유입이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크지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않아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유지비용이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과다</a:t>
            </a:r>
            <a:endParaRPr lang="en-US" altLang="ko-KR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92240" y="1417320"/>
            <a:ext cx="53949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58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766560" y="16916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766560" y="1691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대비 </a:t>
            </a:r>
            <a:r>
              <a:rPr lang="en-US" altLang="ko-KR" sz="19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r>
              <a:rPr lang="en-US" altLang="ko-KR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9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미비</a:t>
            </a:r>
            <a:endParaRPr lang="en-US" altLang="ko-KR" sz="1900" dirty="0"/>
          </a:p>
        </p:txBody>
      </p:sp>
      <p:sp>
        <p:nvSpPr>
          <p:cNvPr id="15" name="Text 12"/>
          <p:cNvSpPr/>
          <p:nvPr/>
        </p:nvSpPr>
        <p:spPr>
          <a:xfrm>
            <a:off x="6903720" y="27432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리텐션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)가 </a:t>
            </a:r>
            <a:r>
              <a:rPr lang="en-US" altLang="ko-KR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저조</a:t>
            </a:r>
            <a:endParaRPr lang="en-US" altLang="ko-KR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리워드 비용 대비 수익 창출 구조 </a:t>
            </a:r>
            <a:r>
              <a:rPr lang="ko-KR" alt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미확립</a:t>
            </a:r>
            <a:endParaRPr lang="en-US" altLang="ko-KR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현행 광고 콘텐츠의 유저 참여 동기 미흡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solidFill>
            <a:srgbClr val="FBECEA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시사점</a:t>
            </a: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유지비용과 유료 마케팅 구조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개발을 통한 자발적 공유를 통한 트래픽 확보 및 신규 광고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필요</a:t>
            </a:r>
            <a:endParaRPr 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98107C-71F1-DB87-E35F-0DA4B31F1D0D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부정 포인트를 무엇으로 볼 것인가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문제 정의 — 무엇이 한계를 만들었나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긍정·부정 신호의 근저에는 세 가지 구조적 문제가 존재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1371600"/>
            <a:ext cx="3657600" cy="530352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02920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 측면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1901952"/>
            <a:ext cx="3657600" cy="2743200"/>
          </a:xfrm>
          <a:prstGeom prst="rect">
            <a:avLst/>
          </a:prstGeom>
          <a:solidFill>
            <a:srgbClr val="F7F7F7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85800" y="2048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모수의 한계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95528" y="256032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 티켓에 반응하는 '고유 관중' 수가 생각보다 크지 않음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이용 × 확률형 리워드 반응 × 폴리볼 </a:t>
            </a:r>
            <a:r>
              <a:rPr lang="en-US" sz="11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인지</a:t>
            </a: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 타겟으로 산정 시 매우 협소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TAM 자체의 </a:t>
            </a:r>
            <a:r>
              <a:rPr lang="en-US" sz="11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</a:t>
            </a: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제약</a:t>
            </a:r>
            <a:endParaRPr lang="en-US" sz="110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279392" y="1371600"/>
            <a:ext cx="3657600" cy="530352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279392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측면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79392" y="1901952"/>
            <a:ext cx="3657600" cy="2743200"/>
          </a:xfrm>
          <a:prstGeom prst="rect">
            <a:avLst/>
          </a:prstGeom>
          <a:solidFill>
            <a:srgbClr val="F7F7F7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462272" y="2048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 err="1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오가닉</a:t>
            </a:r>
            <a:r>
              <a:rPr lang="en-US" sz="15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성장</a:t>
            </a:r>
            <a:r>
              <a:rPr lang="en-US" sz="15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500" b="1" dirty="0" err="1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저해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572000" y="2560320"/>
            <a:ext cx="3154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응모형(추첨) 리워드가 '당첨 기대'로 유입을 끌지만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입소문·자발적 공유 동기를 약화시킴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제한적 보상</a:t>
            </a:r>
            <a:r>
              <a:rPr lang="en-US" altLang="ko-KR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유저 볼륨</a:t>
            </a:r>
            <a:r>
              <a:rPr lang="en-US" altLang="ko-KR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따른 유저 확대 상한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055864" y="1371600"/>
            <a:ext cx="3657600" cy="530352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055864" y="137160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측면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055864" y="1901952"/>
            <a:ext cx="3657600" cy="2743200"/>
          </a:xfrm>
          <a:prstGeom prst="rect">
            <a:avLst/>
          </a:prstGeom>
          <a:solidFill>
            <a:srgbClr val="F7F7F7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8238744" y="20482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리워드 </a:t>
            </a:r>
            <a:r>
              <a:rPr lang="en-US" sz="1500" b="1" dirty="0" err="1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의존적</a:t>
            </a:r>
            <a:r>
              <a:rPr lang="en-US" sz="15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5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48472" y="2560320"/>
            <a:ext cx="326440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이용 동기가 </a:t>
            </a:r>
            <a:r>
              <a:rPr lang="en-US" sz="11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리워드에</a:t>
            </a: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국한</a:t>
            </a:r>
            <a:endParaRPr lang="en-US" sz="110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낮은 확률의 보상 획득 기회로 인한 이탈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</a:t>
            </a:r>
            <a:r>
              <a:rPr lang="en-US" sz="110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리워드</a:t>
            </a: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(직관 티켓)가 사라지면 방문 동기도 함께 소멸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lang="ko-KR" alt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및 콘텐츠의 리워드 외 가치 부재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02920" y="5029200"/>
            <a:ext cx="1115568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r>
              <a:rPr lang="en-US" sz="1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‘2026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년 프로야구 티켓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이라는 리워드는 매력적이나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타겟의 </a:t>
            </a:r>
            <a:r>
              <a:rPr lang="ko-KR" alt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모수가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제한적이고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의존적인 보상 구조라는 한계를 도출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b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</a:b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서비스의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구조적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피벗팅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</a:t>
            </a:r>
            <a:endParaRPr lang="en-US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59E1E76-188D-B16E-03D1-58EEEC7006A6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핵심 문제를 어떻게 정의할 것인가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방향성 전환 — 참여형 </a:t>
            </a:r>
            <a:r>
              <a:rPr lang="en-US" sz="19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</a:t>
            </a: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9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40080" y="960120"/>
            <a:ext cx="4572000" cy="566928"/>
          </a:xfrm>
          <a:prstGeom prst="roundRect">
            <a:avLst>
              <a:gd name="adj" fmla="val 9677"/>
            </a:avLst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/>
          <p:cNvSpPr/>
          <p:nvPr/>
        </p:nvSpPr>
        <p:spPr>
          <a:xfrm>
            <a:off x="640080" y="9601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리워드 의존형 (야구 직관)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57800" y="9601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172200" y="960120"/>
            <a:ext cx="5440680" cy="566928"/>
          </a:xfrm>
          <a:prstGeom prst="roundRect">
            <a:avLst>
              <a:gd name="adj" fmla="val 9677"/>
            </a:avLst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/>
          <p:nvPr/>
        </p:nvSpPr>
        <p:spPr>
          <a:xfrm>
            <a:off x="6172200" y="96012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참여형 콘텐츠 </a:t>
            </a:r>
            <a:r>
              <a:rPr lang="en-US" sz="125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</a:t>
            </a:r>
            <a:r>
              <a:rPr lang="ko-KR" altLang="en-US" sz="1250" b="1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소소한 참여 </a:t>
            </a:r>
            <a:r>
              <a:rPr lang="en-US" altLang="ko-KR" sz="1250" b="1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250" b="1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</a:t>
            </a:r>
            <a:r>
              <a:rPr lang="en-US" altLang="ko-KR" sz="1250" b="1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’</a:t>
            </a:r>
            <a:r>
              <a:rPr lang="ko-KR" altLang="en-US" sz="1250" b="1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250" b="1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ko-KR" altLang="en-US" sz="1250" b="1" dirty="0">
                <a:solidFill>
                  <a:srgbClr val="FFFF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크고 작은 보상의 기회</a:t>
            </a: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3520440" cy="2788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61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868680" y="2084832"/>
            <a:ext cx="548640" cy="548640"/>
          </a:xfrm>
          <a:prstGeom prst="ellipse">
            <a:avLst/>
          </a:prstGeom>
          <a:solidFill>
            <a:srgbClr val="FF61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86868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68680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16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</a:t>
            </a: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b="1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다변화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직관 티켓 + </a:t>
            </a: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소액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군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(3~5천원) 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응모 구조를 통한 보상 타겟 확대</a:t>
            </a:r>
            <a:endParaRPr lang="en-US" altLang="ko-KR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숙박권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, 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닌텐도 등 고가 경품의 운영으로 바이럴 마케팅 소재 확보</a:t>
            </a:r>
            <a:endParaRPr lang="en-US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없는 구단·시즌 종료(9/6) 대비, 응모 모수 확대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66260" y="1874520"/>
            <a:ext cx="3520440" cy="2788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61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94860" y="2084832"/>
            <a:ext cx="548640" cy="548640"/>
          </a:xfrm>
          <a:prstGeom prst="ellipse">
            <a:avLst/>
          </a:prstGeom>
          <a:solidFill>
            <a:srgbClr val="FF61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59486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4594860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</a:t>
            </a:r>
            <a:r>
              <a:rPr lang="ko-KR" alt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참여형 플랫폼화 피벗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732020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Lite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 Heavy 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병렬 구성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프로야구 승부예측은 주요 탭으로 운영</a:t>
            </a:r>
            <a:endParaRPr lang="en-US" altLang="ko-KR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SEO 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노출을 통한 포털형 </a:t>
            </a: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</a:t>
            </a:r>
            <a:endParaRPr lang="en-US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</a:rPr>
              <a:t>유저 세그먼트에 따른 데이터 형성으로 참여 정보 가치 부여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092440" y="1874520"/>
            <a:ext cx="3520440" cy="2788920"/>
          </a:xfrm>
          <a:prstGeom prst="rect">
            <a:avLst/>
          </a:prstGeom>
          <a:solidFill>
            <a:srgbClr val="FFFFFF"/>
          </a:solidFill>
          <a:ln w="15875">
            <a:solidFill>
              <a:srgbClr val="FF6114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Shape 18"/>
          <p:cNvSpPr/>
          <p:nvPr/>
        </p:nvSpPr>
        <p:spPr>
          <a:xfrm>
            <a:off x="8321040" y="2084832"/>
            <a:ext cx="548640" cy="548640"/>
          </a:xfrm>
          <a:prstGeom prst="ellipse">
            <a:avLst/>
          </a:prstGeom>
          <a:solidFill>
            <a:srgbClr val="FF61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321040" y="2084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321040" y="272491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광고 BM </a:t>
            </a:r>
            <a:r>
              <a:rPr lang="ko-KR" altLang="en-US" sz="16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 재정립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458200" y="32461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분야별 광고주 맞춤형 콘텐츠 운영으로 고수익 광고 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구축</a:t>
            </a:r>
            <a:endParaRPr lang="en-US" altLang="ko-KR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광고주 재원을 활용한 보상 특성화 및 리워드 비용 구조 개선</a:t>
            </a:r>
            <a:endParaRPr lang="en-US" altLang="ko-KR" sz="1150" dirty="0">
              <a:solidFill>
                <a:srgbClr val="595959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커뮤니티</a:t>
            </a:r>
            <a:r>
              <a:rPr lang="en-US" altLang="ko-KR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포털형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트래픽 기반 DA(상시 </a:t>
            </a: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 </a:t>
            </a: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예측·응모 코어를 유지한 채 보상·콘텐츠·광고를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병행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보상의 한계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해소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인게이지먼트가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매출에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보다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직결되는 구조 확보</a:t>
            </a:r>
            <a:endParaRPr 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41D293-81CC-73C4-8A82-8199C772E6F5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해결 방향성을 어떻게 설정할 것인가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액션 플랜 (하반기 로드맵)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중(~9/6) 참여형 콘텐츠 사전 안착 → 시즌 후 자생력 검증 · 월 최소 2회 2주 MVP 액션으로 실행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35204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액션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Q3 (~9월)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Q4 (10~12월)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승부예측(야구) → 다양한 픽(투표·참여·예측)으로 피벗팅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참여형 플랫폼화 UI 개편 + 투표·미니게임 베타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UGC(유저 생산형) 체제 전환 테스트 · 검색 자산화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리워드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 다변화 — 직관 티켓 + 소액 보상 + 대형 경품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소액 보상·대형 경품 반응성 테스트 + 게이미피케이션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 적립형 모델 검증 + 시즌 종료 대비 완료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BM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광고 BM 고도화 — 노출 확대 + 참여형 콘텐츠 광고 상품화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 노출면 확대 · eCPM 방어 (월 960만 기반 구축)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참여형 콘텐츠 광고 세일즈 · 직광고 월 2,000만 검증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· BM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 Segmentation으로 참여 데이터 고도화 + 월 2회 MVP 운영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2주 MVP 액션 ×2/월 · 세그먼트별 KPI 대시보드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야구 시즌 후 자생력 검증 · 매출 BM 효율 분석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074920"/>
            <a:ext cx="1097280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3Q: 픽 피벗팅·보상 다변화·게이미피케이션으로 자생력 검증 → 4Q: 광고 BM 고도화(직광고 상품화·UGC·포인트) · 26.12 누적 16만·DAU 2.4만·월 2,960만</a:t>
            </a:r>
            <a:endParaRPr 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6D3FB3-C0CE-ECC4-87C4-A3903FFE6539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해결 방안을 위한 구체적인 아이템 및 계획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하반기 마케팅 플랜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640080" y="1097280"/>
            <a:ext cx="3520440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0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3"/>
          <p:cNvSpPr/>
          <p:nvPr/>
        </p:nvSpPr>
        <p:spPr>
          <a:xfrm>
            <a:off x="640080" y="1097280"/>
            <a:ext cx="3520440" cy="4572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640080" y="1097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Paid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1664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유료 마케팅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20848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고효율 채널 유지 · 확대, CAC 관리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비야구 콘텐츠로 타겟 확장하여 모수 한계 보완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66260" y="1097280"/>
            <a:ext cx="3520440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0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366260" y="1097280"/>
            <a:ext cx="3520440" cy="4572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4366260" y="1097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Organic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94860" y="1664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오가닉 성장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32020" y="20848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예측 결과 · 랭킹 · 적중률 공유 유도(콘텐츠 바이럴)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정보형 가치로 자연 검색 유입 · 재방문 확보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092440" y="1097280"/>
            <a:ext cx="3520440" cy="2286000"/>
          </a:xfrm>
          <a:prstGeom prst="rect">
            <a:avLst/>
          </a:prstGeom>
          <a:solidFill>
            <a:srgbClr val="FFFFFF"/>
          </a:solidFill>
          <a:ln w="13970">
            <a:solidFill>
              <a:srgbClr val="20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8092440" y="1097280"/>
            <a:ext cx="3520440" cy="45720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8092440" y="109728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321040" y="166420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 · 리텐션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58200" y="2084832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 응모 리텐션 자산을 '상시 예측 습관'으로 전환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종료 대비 비야구 콘텐츠 사전 안내 · 유도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11480" y="3611880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□ 시점 전략 (야구 시즌 기준)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39776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9"/>
          <p:cNvSpPr/>
          <p:nvPr/>
        </p:nvSpPr>
        <p:spPr>
          <a:xfrm>
            <a:off x="822960" y="3977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0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중 (~2026.9.6)
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유입 · 리텐션 자산 최대 확보 + 비야구 콘텐츠 사전 노출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263640" y="3977640"/>
            <a:ext cx="5349240" cy="914400"/>
          </a:xfrm>
          <a:prstGeom prst="roundRect">
            <a:avLst>
              <a:gd name="adj" fmla="val 5000"/>
            </a:avLst>
          </a:prstGeom>
          <a:solidFill>
            <a:srgbClr val="FCEDE5"/>
          </a:solidFill>
          <a:ln w="12700">
            <a:solidFill>
              <a:srgbClr val="FF611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1"/>
          <p:cNvSpPr/>
          <p:nvPr/>
        </p:nvSpPr>
        <p:spPr>
          <a:xfrm>
            <a:off x="6446520" y="3977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종료 후
</a:t>
            </a:r>
            <a:endParaRPr lang="en-US" sz="12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비야구 예측 콘텐츠로 이탈 방지 + 상시 예측 습관 전환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0080" y="5166360"/>
            <a:ext cx="10972800" cy="54864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야구 시즌 동안 확보한 유저를 ‘예측 습관 유저’로 전환하는 것이 하반기 마케팅의 본질</a:t>
            </a:r>
            <a:endParaRPr lang="en-US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9E36105-2AAD-D392-79D7-A399900FDE55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아이템 검증</a:t>
            </a:r>
            <a:r>
              <a:rPr lang="en-US" altLang="ko-KR" b="1" dirty="0"/>
              <a:t>+</a:t>
            </a:r>
            <a:r>
              <a:rPr lang="ko-KR" altLang="en-US" b="1" dirty="0"/>
              <a:t>하반기 성장을 위한 마케팅 플랜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7. 하반기 KPI 목표 — 확정 (26년 12월 기준)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말 확정 </a:t>
            </a:r>
            <a:r>
              <a:rPr lang="en-US" sz="1150" dirty="0" err="1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</a:t>
            </a: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DAU 2.4만·MAU 9.6만 · 월 광고매출 2,960만원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394960" cy="868680"/>
          </a:xfrm>
          <a:prstGeom prst="rect">
            <a:avLst/>
          </a:prstGeom>
          <a:solidFill>
            <a:srgbClr val="20386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914400" y="1517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</a:rPr>
              <a:t>KPI - I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755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</a:rPr>
              <a:t>서비스 유저 활동 지표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286000"/>
            <a:ext cx="5394960" cy="2697480"/>
          </a:xfrm>
          <a:prstGeom prst="rect">
            <a:avLst/>
          </a:prstGeom>
          <a:solidFill>
            <a:srgbClr val="EDF1F8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914400" y="2395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회원·DAU·MAU·일 콘텐츠 참여 기준 (26.12)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29260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DAU : 약 3,900 → </a:t>
            </a: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2.4만 (+514%)</a:t>
            </a:r>
            <a:endParaRPr lang="en-US" sz="1200" b="1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: 1.3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9.6만 명 (+629%)</a:t>
            </a:r>
          </a:p>
          <a:p>
            <a:pPr marL="342900" indent="-342900">
              <a:spcAft>
                <a:spcPts val="800"/>
              </a:spcAft>
              <a:buSzPct val="100000"/>
              <a:buFontTx/>
              <a:buChar char="•"/>
            </a:pPr>
            <a:r>
              <a:rPr lang="ko-KR" alt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폴리볼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월 마켓 참여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144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en-US" altLang="ko-KR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1,083</a:t>
            </a: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</a:t>
            </a:r>
            <a:r>
              <a:rPr lang="en-US" altLang="ko-KR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</a:t>
            </a:r>
            <a:r>
              <a:rPr lang="en-US" altLang="ko-KR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(+650%)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인당 일일 예측 참여 수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11.7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-&gt; </a:t>
            </a:r>
            <a:r>
              <a:rPr lang="en-US" altLang="ko-KR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</a:t>
            </a:r>
            <a:r>
              <a:rPr lang="en-US" altLang="ko-KR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</a:t>
            </a:r>
            <a:r>
              <a:rPr lang="ko-KR" altLang="en-US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 </a:t>
            </a:r>
            <a:r>
              <a:rPr lang="en-US" altLang="ko-KR" sz="12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(+28%)</a:t>
            </a:r>
            <a:endParaRPr lang="en-US" sz="1200" b="1" dirty="0"/>
          </a:p>
        </p:txBody>
      </p:sp>
      <p:sp>
        <p:nvSpPr>
          <p:cNvPr id="12" name="Shape 9"/>
          <p:cNvSpPr/>
          <p:nvPr/>
        </p:nvSpPr>
        <p:spPr>
          <a:xfrm>
            <a:off x="6492240" y="1417320"/>
            <a:ext cx="5394960" cy="868680"/>
          </a:xfrm>
          <a:prstGeom prst="rect">
            <a:avLst/>
          </a:prstGeom>
          <a:solidFill>
            <a:srgbClr val="FF61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766560" y="15179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</a:rPr>
              <a:t>KPI - </a:t>
            </a:r>
            <a:r>
              <a:rPr lang="en-US" sz="1100" b="1" dirty="0" err="1">
                <a:solidFill>
                  <a:srgbClr val="FFFFFF">
                    <a:alpha val="85000"/>
                  </a:srgbClr>
                </a:solidFill>
                <a:latin typeface="Malgun Gothic" pitchFamily="34" charset="0"/>
                <a:ea typeface="Malgun Gothic" pitchFamily="34" charset="-122"/>
              </a:rPr>
              <a:t>ll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17556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</a:t>
            </a:r>
            <a:r>
              <a:rPr lang="en-US" altLang="ko-KR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 </a:t>
            </a:r>
            <a:r>
              <a:rPr lang="ko-KR" alt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실적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492240" y="2286000"/>
            <a:ext cx="5394960" cy="2697480"/>
          </a:xfrm>
          <a:prstGeom prst="rect">
            <a:avLst/>
          </a:prstGeom>
          <a:solidFill>
            <a:srgbClr val="FCEDE5"/>
          </a:solidFill>
          <a:ln w="9525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6766560" y="2395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광고매출 2,960만원 = 네트워크 960만 + 직광고 2,000만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903720" y="29260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광고매출 합계: 182만 → 2,960만원 (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BEP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목표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[네트워크] 월 960만원, (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미니게임형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DA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 구좌 확대</a:t>
            </a:r>
            <a:r>
              <a:rPr lang="en-US" altLang="ko-KR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[직광고] 월 2,000만원 (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광고주향 </a:t>
            </a:r>
            <a:r>
              <a:rPr lang="en-US" sz="12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캠페인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광고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4Q: UGC 전환 · 포인트 적립형 모델 검증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51663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</a:t>
            </a:r>
            <a:r>
              <a:rPr lang="en-US" sz="11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네트워크 광고(월 960만) = 트래픽·노출 기반 달성 책임 KPI. 직광고(월 2,000만) = DAU 2.4만·MAU 9.6만 도달 기반 참여형 콘텐츠의 광고 상품화·직계약 매출(영업 체계 전제)</a:t>
            </a:r>
            <a:endParaRPr lang="en-US" sz="11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D60B18-ED11-8346-5DA2-C2AE169F30CC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어떤 </a:t>
            </a:r>
            <a:r>
              <a:rPr lang="en-US" altLang="ko-KR" b="1" dirty="0"/>
              <a:t>KPI</a:t>
            </a:r>
            <a:r>
              <a:rPr lang="ko-KR" altLang="en-US" b="1" dirty="0"/>
              <a:t>를 기준으로 볼 것인가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5-1. 2주 MVP 액션 플랜 (월 최소 2회)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매월 2개 이상의 2주 단위 MVP를 빠르게 출시·측정·학습 → 검증된 액션만 본격 확장 (예시, 세부 일정 별도 확정)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379073"/>
              </p:ext>
            </p:extLst>
          </p:nvPr>
        </p:nvGraphicFramePr>
        <p:xfrm>
          <a:off x="411480" y="1371599"/>
          <a:ext cx="11201399" cy="4106335"/>
        </p:xfrm>
        <a:graphic>
          <a:graphicData uri="http://schemas.openxmlformats.org/drawingml/2006/table">
            <a:tbl>
              <a:tblPr/>
              <a:tblGrid>
                <a:gridCol w="9262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5067">
                  <a:extLst>
                    <a:ext uri="{9D8B030D-6E8A-4147-A177-3AD203B41FA5}">
                      <a16:colId xmlns:a16="http://schemas.microsoft.com/office/drawing/2014/main" val="1792118699"/>
                    </a:ext>
                  </a:extLst>
                </a:gridCol>
                <a:gridCol w="3496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628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70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16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150" b="1" dirty="0">
                          <a:solidFill>
                            <a:schemeClr val="bg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구분</a:t>
                      </a:r>
                      <a:endParaRPr lang="en-US" sz="1150" b="1" dirty="0">
                        <a:solidFill>
                          <a:schemeClr val="bg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MVP ① (1~2주차)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MVP ② (3~4주차)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808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7~8월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실행안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비야구 투표 콘텐츠 1종 출시 (이슈·시즈널 픽)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소액 보상(상품권) 응모 옵션 A/B 테스트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228600" indent="-228600" algn="l">
                        <a:buAutoNum type="arabicParenR"/>
                      </a:pP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투표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참여율 · 비야구 콘텐츠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비중</a:t>
                      </a:r>
                      <a:endParaRPr lang="en-US" sz="1000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  <a:p>
                      <a:pPr marL="228600" indent="-228600" algn="l">
                        <a:buAutoNum type="arabicParenR"/>
                      </a:pPr>
                      <a:endParaRPr lang="en-US" sz="1000" dirty="0">
                        <a:solidFill>
                          <a:schemeClr val="tx1"/>
                        </a:solidFill>
                        <a:latin typeface="Malgun Gothic" pitchFamily="34" charset="0"/>
                        <a:ea typeface="Malgun Gothic" pitchFamily="34" charset="-122"/>
                        <a:cs typeface="Malgun Gothic" charset="0"/>
                      </a:endParaRPr>
                    </a:p>
                    <a:p>
                      <a:pPr marL="228600" indent="-228600" algn="l">
                        <a:buAutoNum type="arabicParenR"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티켓 외 보상의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charset="0"/>
                        </a:rPr>
                        <a:t>응모율</a:t>
                      </a: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0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실행방식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주제 선정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등록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야구 마켓 병렬 노출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2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주 단위 노출 조정</a:t>
                      </a:r>
                      <a:endParaRPr lang="en-US" sz="9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상품권 응모 옵션 노출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노출군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·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대조군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A/B 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선호 비교</a:t>
                      </a:r>
                      <a:endParaRPr lang="en-US" sz="9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981381"/>
                  </a:ext>
                </a:extLst>
              </a:tr>
              <a:tr h="47808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실행안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대형 경품 이벤트 1회 (참여 급증 유도)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게이미피케이션(연속 참여 보상·배지) 적용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 err="1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시즌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종료 전후 리텐션 d7 · 연속 참여율</a:t>
                      </a: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0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실행방식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고가 경품 선정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단기 집중 이벤트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공유 유입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트래킹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참여율</a:t>
                      </a:r>
                      <a:endParaRPr lang="en-US" sz="9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연속 참여 보상 설계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배지 부여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단계별 보상 적용</a:t>
                      </a:r>
                      <a:endParaRPr lang="en-US" sz="9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206428"/>
                  </a:ext>
                </a:extLst>
              </a:tr>
              <a:tr h="47808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실행안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참여형 콘텐츠 내 신규 광고 노출면 1종 적용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스폰서 투표(광고주 재원) 파일럿 1건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유저당 노출수 · eCPM · 스폰서 매출</a:t>
                      </a: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0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실행방식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노출면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위치 선정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노출 수 조정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en-US" altLang="ko-KR" sz="900" dirty="0" err="1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eCPM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모니터링</a:t>
                      </a:r>
                      <a:endParaRPr lang="en-US" sz="9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광고주 브랜드 투표 기획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재원 연결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파일럿 운영</a:t>
                      </a:r>
                      <a:endParaRPr lang="en-US" sz="9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704694"/>
                  </a:ext>
                </a:extLst>
              </a:tr>
              <a:tr h="47808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 err="1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실행안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UGC(유저 생산 픽) 생성 기능 베타 오픈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00206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 적립·사용 플로우 검증 (소규모)</a:t>
                      </a:r>
                      <a:endParaRPr lang="en-US" sz="1050" b="1" dirty="0">
                        <a:solidFill>
                          <a:srgbClr val="002060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UGC 생성·소비량 · 포인트 적립 전환율</a:t>
                      </a: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8088">
                <a:tc vMerge="1"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1050" b="0" dirty="0"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실행방식</a:t>
                      </a:r>
                      <a:endParaRPr lang="en-US" sz="1050" b="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생성 기능 제한 오픈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검수 정책 적용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Malgun Gothic" charset="0"/>
                          <a:ea typeface="Malgun Gothic" charset="0"/>
                          <a:cs typeface="Malgun Gothic" charset="0"/>
                        </a:rPr>
                        <a:t>소비량 관찰</a:t>
                      </a:r>
                      <a:endParaRPr lang="en-US" sz="9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적립 경로 오픈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사용처 연결 </a:t>
                      </a:r>
                      <a:r>
                        <a:rPr lang="en-US" altLang="ko-KR" sz="9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전환 측정</a:t>
                      </a:r>
                      <a:endParaRPr lang="en-US" sz="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00" dirty="0">
                        <a:solidFill>
                          <a:schemeClr val="tx1"/>
                        </a:solidFill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8731729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11480" y="5588198"/>
            <a:ext cx="1120140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원칙 — 매월 2개 이상 MVP를 2주 내 출시·측정, 검증된 액션만 확장하고 실패는 빠르게 폐기. 유저 Segmentation 기반으로 세그먼트별 반응을 학습</a:t>
            </a:r>
            <a:endParaRPr 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26D3FB3-C0CE-ECC4-87C4-A3903FFE6539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2주 단위로 빠르게 검증할 액션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8. 인력 계획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방향성 전환 실행에 필요한 기능별 역할 정의 (구체 인원 · 충원 규모는 별도 산정)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72800" cy="32461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역할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/ 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콘텐츠 · BM 설계, 로드맵 관리, 우선순위 조정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 인력 / 충원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콘텐츠 운영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시즈널 · 이슈 예측 발제 · 검수 · 정산, 운영 정책 관리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 인력 / 충원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예측 마켓 기능(랭킹 · 적중률 · 리워드) 구현 · 운영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 인력 / 충원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마케팅 · 그로스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유료 · 오가닉 · CRM 실행, 채널 · 지표 트래킹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 인력 / 충원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0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· 분석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KPI 정의 · 대시보드 구축, 전환 실험 설계 · 분석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 인력 / 충원 검토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983480"/>
            <a:ext cx="10972800" cy="594360"/>
          </a:xfrm>
          <a:prstGeom prst="rect">
            <a:avLst/>
          </a:prstGeom>
          <a:solidFill>
            <a:srgbClr val="F2F2F2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61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우선순위에 따라 단계적 충원 — 초기에는 콘텐츠 운영 · 데이터 분석 역량 확보가 핵심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743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참고. 벤치마크 — 투표형 커뮤니티 모델 검증</a:t>
            </a:r>
            <a:endParaRPr lang="en-US" sz="1900" dirty="0"/>
          </a:p>
        </p:txBody>
      </p:sp>
      <p:pic>
        <p:nvPicPr>
          <p:cNvPr id="3" name="Image 0" descr="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310896"/>
            <a:ext cx="1417320" cy="1948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51052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©2026 Hecto · Wallet 사업실 · Confidential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11480" y="914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투표·콘텐츠 → 광고 매출 모델은 국내에서 흑자로 검증됨 (아하) · 절대 수치 아닌 비율을 목표 참고선으로 활용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53949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5875">
            <a:solidFill>
              <a:srgbClr val="2E5C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Shape 4"/>
          <p:cNvSpPr/>
          <p:nvPr/>
        </p:nvSpPr>
        <p:spPr>
          <a:xfrm>
            <a:off x="914400" y="169164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E5C9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5"/>
          <p:cNvSpPr/>
          <p:nvPr/>
        </p:nvSpPr>
        <p:spPr>
          <a:xfrm>
            <a:off x="914400" y="1691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검증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440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아하 — 투표·QnA 커뮤니티 흑자 모델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051560" y="27432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수익모델 = 광고 + 멤버십 + 데이터 (광고가 주축)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24년 상반기 매출 48억 · 영업이익률 약 44%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약 90%가 검색(오가닉) — 콘텐츠가 유입 자산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투표 결과 = 검색 유입되는 콘텐츠 → 유료의존 탈피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492240" y="1417320"/>
            <a:ext cx="539496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5875">
            <a:solidFill>
              <a:srgbClr val="2E5C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6766560" y="169164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2E5C9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6766560" y="16916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비율 참고선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절대치 아닌 비율로 설정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6903720" y="2743200"/>
            <a:ext cx="4617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WAU/MAU — 아하 앱 65% (보수적 하향 적용)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DAU/MAU — 아하 앱 60%대 (일간 점착도)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59595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MAU 500만은 다년 SEO 결과 → 규모 비교 제외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5029200"/>
            <a:ext cx="10972800" cy="640080"/>
          </a:xfrm>
          <a:prstGeom prst="rect">
            <a:avLst/>
          </a:prstGeom>
          <a:solidFill>
            <a:srgbClr val="E8F0FB"/>
          </a:solidFill>
          <a:ln/>
        </p:spPr>
        <p:txBody>
          <a:bodyPr wrap="square" lIns="50800" tIns="127000" rIns="127000" bIns="508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E5C9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리스크   </a:t>
            </a:r>
            <a:r>
              <a:rPr lang="en-US" sz="12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 전환 시 노출 늘어도 eCPM 붕괴하면 매출 정체(실증 사례 존재) → KPI는 노출수 단독이 아닌 eCPM 방어 + 볼륨 동시 관리</a:t>
            </a:r>
            <a:endParaRPr lang="en-US" sz="1200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598107C-71F1-DB87-E35F-0DA4B31F1D0D}"/>
              </a:ext>
            </a:extLst>
          </p:cNvPr>
          <p:cNvSpPr/>
          <p:nvPr/>
        </p:nvSpPr>
        <p:spPr>
          <a:xfrm>
            <a:off x="6740434" y="402336"/>
            <a:ext cx="4872446" cy="384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무엇을 기준선으로 삼을 것인가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475</TotalTime>
  <Words>2301</Words>
  <Application>Microsoft Office PowerPoint</Application>
  <PresentationFormat>와이드스크린</PresentationFormat>
  <Paragraphs>274</Paragraphs>
  <Slides>13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폴리볼 하반기 사업계획(안)</dc:title>
  <dc:subject>PptxGenJS Presentation</dc:subject>
  <dc:creator>Hecto Innovation - Wallet</dc:creator>
  <cp:lastModifiedBy>CSH</cp:lastModifiedBy>
  <cp:revision>18</cp:revision>
  <dcterms:created xsi:type="dcterms:W3CDTF">2026-06-08T05:13:11Z</dcterms:created>
  <dcterms:modified xsi:type="dcterms:W3CDTF">2026-06-12T02:17:26Z</dcterms:modified>
</cp:coreProperties>
</file>